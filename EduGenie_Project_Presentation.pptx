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0584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F2F6FC"/>
                </a:solidFill>
                <a:latin typeface="Aptos Display"/>
              </a:defRPr>
            </a:pPr>
            <a:r>
              <a:t>EDUGENIE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45D3FF"/>
                </a:solidFill>
                <a:latin typeface="Aptos"/>
              </a:defRPr>
            </a:pPr>
            <a:r>
              <a:t>AI-Powered Learning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8961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AAB8CD"/>
                </a:solidFill>
                <a:latin typeface="Aptos"/>
              </a:defRPr>
            </a:pPr>
            <a:r>
              <a:t>Ask • Explain • Practice • Summarize • 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86200"/>
            <a:ext cx="996696" cy="310896"/>
          </a:xfrm>
          <a:prstGeom prst="round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95344"/>
            <a:ext cx="996696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101E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3886200"/>
            <a:ext cx="1600200" cy="310896"/>
          </a:xfrm>
          <a:prstGeom prst="round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3895344"/>
            <a:ext cx="160020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101E"/>
                </a:solidFill>
                <a:latin typeface="Aptos"/>
              </a:defRPr>
            </a:pPr>
            <a:r>
              <a:t>Google Gemini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3886200"/>
            <a:ext cx="1097280" cy="310896"/>
          </a:xfrm>
          <a:prstGeom prst="roundRect">
            <a:avLst/>
          </a:prstGeom>
          <a:solidFill>
            <a:srgbClr val="51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3895344"/>
            <a:ext cx="10972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101E"/>
                </a:solidFill>
                <a:latin typeface="Aptos"/>
              </a:defRPr>
            </a:pPr>
            <a:r>
              <a:t>Pydantic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3886200"/>
            <a:ext cx="1399032" cy="310896"/>
          </a:xfrm>
          <a:prstGeom prst="round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3895344"/>
            <a:ext cx="139903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101E"/>
                </a:solidFill>
                <a:latin typeface="Aptos"/>
              </a:defRPr>
            </a:pPr>
            <a:r>
              <a:t>HTML/CSS/JS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709160"/>
            <a:ext cx="795527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F2F6FC"/>
                </a:solidFill>
                <a:latin typeface="Aptos"/>
              </a:defRPr>
            </a:pPr>
            <a:r>
              <a:t>Project Presentation + Main Coding Appendix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2356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AB8CD"/>
                </a:solidFill>
                <a:latin typeface="Aptos"/>
              </a:defRPr>
            </a:pPr>
            <a:r>
              <a:t>Prepared from the supplied EduGenie project source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051560"/>
            <a:ext cx="2514600" cy="448056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14173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45D3FF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14884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F2F6FC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788920"/>
            <a:ext cx="187451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966EFF"/>
                </a:solidFill>
                <a:latin typeface="Aptos"/>
              </a:defRPr>
            </a:pPr>
            <a:r>
              <a:t>SMARTER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703320"/>
            <a:ext cx="187451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AAB8CD"/>
                </a:solidFill>
                <a:latin typeface="Aptos"/>
              </a:defRPr>
            </a:pPr>
            <a:r>
              <a:t>5 core</a:t>
            </a:r>
            <a:br/>
            <a:r>
              <a:t>learning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Problem →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Why EduGenie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03520" cy="429768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B14C"/>
                </a:solidFill>
                <a:latin typeface="Aptos"/>
              </a:defRPr>
            </a:pPr>
            <a:r>
              <a:t>THE LEARNING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Students often need explanations at different difficulty levels.</a:t>
            </a:r>
          </a:p>
          <a:p>
            <a:pPr>
              <a:spcAft>
                <a:spcPts val="5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Long study material is hard to revise quickly.</a:t>
            </a:r>
          </a:p>
          <a:p>
            <a:pPr>
              <a:spcAft>
                <a:spcPts val="5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Practice questions take time to create manually.</a:t>
            </a:r>
          </a:p>
          <a:p>
            <a:pPr>
              <a:spcAft>
                <a:spcPts val="5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Learning a new topic needs a structured progression.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03520" cy="429768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69164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45D3FF"/>
                </a:solidFill>
                <a:latin typeface="Aptos"/>
              </a:defRPr>
            </a:pPr>
            <a:r>
              <a:t>EDUGENIE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Gemini-powered answers and beginner-friendly explanations.</a:t>
            </a:r>
          </a:p>
          <a:p>
            <a:pPr>
              <a:spcAft>
                <a:spcPts val="5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Automatic summaries with key points and terms.</a:t>
            </a:r>
          </a:p>
          <a:p>
            <a:pPr>
              <a:spcAft>
                <a:spcPts val="5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Validated 3-question MCQ generation.</a:t>
            </a:r>
          </a:p>
          <a:p>
            <a:pPr>
              <a:spcAft>
                <a:spcPts val="5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Personalized beginner → advanced learning paths.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One interface, five AI learning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29000" cy="1874519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1848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45D3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75688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Ask a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7860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CD"/>
                </a:solidFill>
                <a:latin typeface="Aptos"/>
              </a:defRPr>
            </a:pPr>
            <a:r>
              <a:t>Direct educational Q&amp;A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429000" cy="1874519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1848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966E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075688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Explain a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7860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CD"/>
                </a:solidFill>
                <a:latin typeface="Aptos"/>
              </a:defRPr>
            </a:pPr>
            <a:r>
              <a:t>Definition + example + takeaway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417320"/>
            <a:ext cx="3429000" cy="1874519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61848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51DC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75688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Generate a Quiz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57860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CD"/>
                </a:solidFill>
                <a:latin typeface="Aptos"/>
              </a:defRPr>
            </a:pPr>
            <a:r>
              <a:t>3 MCQs • 4 options •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57600"/>
            <a:ext cx="3429000" cy="1874519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5876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B14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15968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Summarize 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81888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CD"/>
                </a:solidFill>
                <a:latin typeface="Aptos"/>
              </a:defRPr>
            </a:pPr>
            <a:r>
              <a:t>Overview + key points + terms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657600"/>
            <a:ext cx="3429000" cy="1874519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3858768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6678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315968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Learning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81888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CD"/>
                </a:solidFill>
                <a:latin typeface="Aptos"/>
              </a:defRPr>
            </a:pPr>
            <a:r>
              <a:t>Stages • timeline • projects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Simple request flow from browser to AI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57400"/>
            <a:ext cx="2286000" cy="105156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4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221992"/>
            <a:ext cx="20665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45D3FF"/>
                </a:solidFill>
                <a:latin typeface="Aptos"/>
              </a:defRPr>
            </a:pPr>
            <a:r>
              <a:t>Web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78608"/>
            <a:ext cx="20665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AB8CD"/>
                </a:solidFill>
                <a:latin typeface="Aptos"/>
              </a:defRPr>
            </a:pPr>
            <a:r>
              <a:t>HTML • CSS • 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057400"/>
            <a:ext cx="2286000" cy="105156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7328" y="2221992"/>
            <a:ext cx="20665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966EFF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2578608"/>
            <a:ext cx="20665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AB8CD"/>
                </a:solidFill>
                <a:latin typeface="Aptos"/>
              </a:defRPr>
            </a:pPr>
            <a:r>
              <a:t>Routes +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057400"/>
            <a:ext cx="2286000" cy="105156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51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2221992"/>
            <a:ext cx="20665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51DCA0"/>
                </a:solidFill>
                <a:latin typeface="Aptos"/>
              </a:defRPr>
            </a:pPr>
            <a:r>
              <a:t>AI Modules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578608"/>
            <a:ext cx="2066543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AB8CD"/>
                </a:solidFill>
                <a:latin typeface="Aptos"/>
              </a:defRPr>
            </a:pPr>
            <a:r>
              <a:t>Q&amp;A • Quiz • Summary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2057400"/>
            <a:ext cx="1828800" cy="105156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FF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02367" y="2221992"/>
            <a:ext cx="1609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B14C"/>
                </a:solidFill>
                <a:latin typeface="Aptos"/>
              </a:defRPr>
            </a:pPr>
            <a:r>
              <a:t>Gemini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02367" y="2578608"/>
            <a:ext cx="16093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AAB8CD"/>
                </a:solidFill>
                <a:latin typeface="Aptos"/>
              </a:defRPr>
            </a:pPr>
            <a:r>
              <a:t>GenAI API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71800" y="2359152"/>
            <a:ext cx="502920" cy="411480"/>
          </a:xfrm>
          <a:prstGeom prst="rightArrow">
            <a:avLst/>
          </a:prstGeom>
          <a:solidFill>
            <a:srgbClr val="33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989320" y="2359152"/>
            <a:ext cx="502920" cy="411480"/>
          </a:xfrm>
          <a:prstGeom prst="rightArrow">
            <a:avLst/>
          </a:prstGeom>
          <a:solidFill>
            <a:srgbClr val="33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9006840" y="2359152"/>
            <a:ext cx="502920" cy="411480"/>
          </a:xfrm>
          <a:prstGeom prst="rightArrow">
            <a:avLst/>
          </a:prstGeom>
          <a:solidFill>
            <a:srgbClr val="33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9476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F2F6FC"/>
                </a:solidFill>
                <a:latin typeface="Aptos"/>
              </a:defRPr>
            </a:pPr>
            <a:r>
              <a:t>Environment &amp; configuration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4434840"/>
            <a:ext cx="1700784" cy="310896"/>
          </a:xfrm>
          <a:prstGeom prst="round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40" y="4443983"/>
            <a:ext cx="170078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101E"/>
                </a:solidFill>
                <a:latin typeface="Aptos"/>
              </a:defRPr>
            </a:pPr>
            <a:r>
              <a:t>.env / API key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0" y="4434840"/>
            <a:ext cx="1801368" cy="310896"/>
          </a:xfrm>
          <a:prstGeom prst="roundRect">
            <a:avLst/>
          </a:prstGeom>
          <a:solidFill>
            <a:srgbClr val="51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4443983"/>
            <a:ext cx="180136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101E"/>
                </a:solidFill>
                <a:latin typeface="Aptos"/>
              </a:defRPr>
            </a:pPr>
            <a:r>
              <a:t>Pydantic limits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46520" y="4434840"/>
            <a:ext cx="2304288" cy="310896"/>
          </a:xfrm>
          <a:prstGeom prst="round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443983"/>
            <a:ext cx="230428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101E"/>
                </a:solidFill>
                <a:latin typeface="Aptos"/>
              </a:defRPr>
            </a:pPr>
            <a:r>
              <a:t>Optional local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4434840"/>
            <a:ext cx="1700784" cy="310896"/>
          </a:xfrm>
          <a:prstGeom prst="round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4443983"/>
            <a:ext cx="170078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101E"/>
                </a:solidFill>
                <a:latin typeface="Aptos"/>
              </a:defRPr>
            </a:pPr>
            <a:r>
              <a:t>Docker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21208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AAB8CD"/>
                </a:solidFill>
                <a:latin typeface="Aptos"/>
              </a:defRPr>
            </a:pPr>
            <a:r>
              <a:t>The Gemini key stays server-side; request payloads are validated before AI calls.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Request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Example: generating a quiz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1664208" cy="205740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6FC"/>
                </a:solidFill>
                <a:latin typeface="Aptos"/>
              </a:defRPr>
            </a:pPr>
            <a:r>
              <a:t>Student enters 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AB8CD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58568" y="2578608"/>
            <a:ext cx="256032" cy="320040"/>
          </a:xfrm>
          <a:prstGeom prst="rightArrow">
            <a:avLst/>
          </a:prstGeom>
          <a:solidFill>
            <a:srgbClr val="33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14600" y="1828800"/>
            <a:ext cx="1664208" cy="205740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2011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966E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514600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6FC"/>
                </a:solidFill>
                <a:latin typeface="Aptos"/>
              </a:defRPr>
            </a:pPr>
            <a:r>
              <a:t>POST /quiz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32461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AB8CD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78808" y="2578608"/>
            <a:ext cx="256032" cy="320040"/>
          </a:xfrm>
          <a:prstGeom prst="rightArrow">
            <a:avLst/>
          </a:prstGeom>
          <a:solidFill>
            <a:srgbClr val="33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828800"/>
            <a:ext cx="1664208" cy="205740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51DCA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14600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6FC"/>
                </a:solidFill>
                <a:latin typeface="Aptos"/>
              </a:defRPr>
            </a:pPr>
            <a:r>
              <a:t>Pydantic validates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2461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AB8CD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099048" y="2578608"/>
            <a:ext cx="256032" cy="320040"/>
          </a:xfrm>
          <a:prstGeom prst="rightArrow">
            <a:avLst/>
          </a:prstGeom>
          <a:solidFill>
            <a:srgbClr val="33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55080" y="1828800"/>
            <a:ext cx="1664208" cy="205740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011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B14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514600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6FC"/>
                </a:solidFill>
                <a:latin typeface="Aptos"/>
              </a:defRPr>
            </a:pPr>
            <a:r>
              <a:t>Prompt sent to Gemini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461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AB8CD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019288" y="2578608"/>
            <a:ext cx="256032" cy="320040"/>
          </a:xfrm>
          <a:prstGeom prst="rightArrow">
            <a:avLst/>
          </a:prstGeom>
          <a:solidFill>
            <a:srgbClr val="33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75320" y="1828800"/>
            <a:ext cx="1664208" cy="205740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2011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5D3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514600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6FC"/>
                </a:solidFill>
                <a:latin typeface="Aptos"/>
              </a:defRPr>
            </a:pPr>
            <a:r>
              <a:t>JSON parsed + validated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2461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AB8CD"/>
                </a:solidFill>
                <a:latin typeface="Aptos"/>
              </a:defRPr>
            </a:pPr>
            <a:r>
              <a:t>Quiz model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939528" y="2578608"/>
            <a:ext cx="256032" cy="320040"/>
          </a:xfrm>
          <a:prstGeom prst="rightArrow">
            <a:avLst/>
          </a:prstGeom>
          <a:solidFill>
            <a:srgbClr val="3343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195560" y="1828800"/>
            <a:ext cx="1664208" cy="205740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32720" y="20116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966E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2514600"/>
            <a:ext cx="1371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6FC"/>
                </a:solidFill>
                <a:latin typeface="Aptos"/>
              </a:defRPr>
            </a:pPr>
            <a:r>
              <a:t>Interactive MCQ rendered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324612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AB8CD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7091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F2F6FC"/>
                </a:solidFill>
                <a:latin typeface="Aptos"/>
              </a:defRPr>
            </a:pPr>
            <a:r>
              <a:t>Key design idea: the AI output is not trusted blindly — quiz structure and answer membership are validated before returning 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Clean separation between API, AI modules, UI and 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6400800" cy="470916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27048"/>
            <a:ext cx="6071616" cy="450799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EduGenie/</a:t>
            </a:r>
          </a:p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├── main.py                  # FastAPI app + routes</a:t>
            </a:r>
          </a:p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├── config.py                # Environment settings</a:t>
            </a:r>
          </a:p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├── gemini_client.py         # Gemini client wrapper</a:t>
            </a:r>
          </a:p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├── qna.py                   # Q&amp;A prompt</a:t>
            </a:r>
          </a:p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├── explanation_module.py    # Concept explanation</a:t>
            </a:r>
          </a:p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├── quiz_module.py           # MCQ generation + validation</a:t>
            </a:r>
          </a:p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├── summary_module.py        # Summarization</a:t>
            </a:r>
          </a:p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├── learning_path.py         # Learning recommendations</a:t>
            </a:r>
          </a:p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├── templates/index.html     # Web UI</a:t>
            </a:r>
          </a:p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├── static/style.css         # UI styling</a:t>
            </a:r>
          </a:p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├── tests/test_app.py        # API tests</a:t>
            </a:r>
          </a:p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├── requirements.txt</a:t>
            </a:r>
          </a:p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├── Dockerfile</a:t>
            </a:r>
          </a:p>
          <a:p>
            <a:pPr>
              <a:spcAft>
                <a:spcPts val="0"/>
              </a:spcAft>
              <a:defRPr sz="1050">
                <a:solidFill>
                  <a:srgbClr val="D2DCEB"/>
                </a:solidFill>
                <a:latin typeface="Cascadia Mono"/>
              </a:defRPr>
            </a:pPr>
            <a:r>
              <a:t>└── docker-compose.yml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52360" y="1417320"/>
            <a:ext cx="4069080" cy="470916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5D3FF"/>
                </a:solidFill>
                <a:latin typeface="Aptos"/>
              </a:defRPr>
            </a:pPr>
            <a:r>
              <a:t>MODULE RESPONSIBILITY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28600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main.py → API surface</a:t>
            </a:r>
          </a:p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gemini_client.py → one AI gateway</a:t>
            </a:r>
          </a:p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feature modules → focused prompts</a:t>
            </a:r>
          </a:p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index.html → single-page experience</a:t>
            </a:r>
          </a:p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tests → health + validation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What powers the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429000" cy="16459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6479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5D3FF"/>
                </a:solidFill>
                <a:latin typeface="Aptos"/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F6FC"/>
                </a:solidFill>
                <a:latin typeface="Aptos"/>
              </a:defRPr>
            </a:pPr>
            <a:r>
              <a:t>FastAPI</a:t>
            </a:r>
            <a:br/>
            <a:r>
              <a:t>Uvicorn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429000" cy="16459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6479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966EFF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28600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F6FC"/>
                </a:solidFill>
                <a:latin typeface="Aptos"/>
              </a:defRPr>
            </a:pPr>
            <a:r>
              <a:t>Google Gemini</a:t>
            </a:r>
            <a:br/>
            <a:r>
              <a:t>GenAI SDK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08760"/>
            <a:ext cx="3429000" cy="16459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1764792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1DCA0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28600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F6FC"/>
                </a:solidFill>
                <a:latin typeface="Aptos"/>
              </a:defRPr>
            </a:pPr>
            <a:r>
              <a:t>Pydantic</a:t>
            </a:r>
            <a:br/>
            <a:r>
              <a:t>Field constraints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66160"/>
            <a:ext cx="3429000" cy="16459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82219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B14C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34340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F6FC"/>
                </a:solidFill>
                <a:latin typeface="Aptos"/>
              </a:defRPr>
            </a:pPr>
            <a:r>
              <a:t>Jinja2</a:t>
            </a:r>
            <a:br/>
            <a:r>
              <a:t>HTML/CSS/JS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566160"/>
            <a:ext cx="3429000" cy="16459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382219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6678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34340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F6FC"/>
                </a:solidFill>
                <a:latin typeface="Aptos"/>
              </a:defRPr>
            </a:pPr>
            <a:r>
              <a:t>Pytest</a:t>
            </a:r>
            <a:br/>
            <a:r>
              <a:t>HTTPX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566160"/>
            <a:ext cx="3429000" cy="164592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3822191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5D3FF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4343400"/>
            <a:ext cx="2926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2F6FC"/>
                </a:solidFill>
                <a:latin typeface="Aptos"/>
              </a:defRPr>
            </a:pPr>
            <a:r>
              <a:t>Docker</a:t>
            </a:r>
            <a:br/>
            <a:r>
              <a:t>Compose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API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Five POST workflows + health check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828800" cy="566928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4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27048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45D3FF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51790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F6FC"/>
                </a:solidFill>
                <a:latin typeface="Aptos"/>
              </a:defRPr>
            </a:pPr>
            <a:r>
              <a:t>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527048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CD"/>
                </a:solidFill>
                <a:latin typeface="Aptos"/>
              </a:defRPr>
            </a:pPr>
            <a:r>
              <a:t>Web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75688"/>
            <a:ext cx="1828800" cy="566928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51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85416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1DCA0"/>
                </a:solidFill>
                <a:latin typeface="Aptos"/>
              </a:defRPr>
            </a:pPr>
            <a:r>
              <a:t>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17627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F6FC"/>
                </a:solidFill>
                <a:latin typeface="Aptos"/>
              </a:defRPr>
            </a:pPr>
            <a:r>
              <a:t>/health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185416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CD"/>
                </a:solidFill>
                <a:latin typeface="Aptos"/>
              </a:defRPr>
            </a:pPr>
            <a:r>
              <a:t>Service health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34056"/>
            <a:ext cx="1828800" cy="566928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843784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966EFF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834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F6FC"/>
                </a:solidFill>
                <a:latin typeface="Aptos"/>
              </a:defRPr>
            </a:pPr>
            <a:r>
              <a:t>/qa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843784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CD"/>
                </a:solidFill>
                <a:latin typeface="Aptos"/>
              </a:defRPr>
            </a:pPr>
            <a:r>
              <a:t>Question answering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392424"/>
            <a:ext cx="1828800" cy="566928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FFB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02152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FB14C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3493008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F6FC"/>
                </a:solidFill>
                <a:latin typeface="Aptos"/>
              </a:defRPr>
            </a:pPr>
            <a:r>
              <a:t>/explain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502152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CD"/>
                </a:solidFill>
                <a:latin typeface="Aptos"/>
              </a:defRPr>
            </a:pPr>
            <a:r>
              <a:t>Concept explanation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50791"/>
            <a:ext cx="1828800" cy="566928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45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60520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45D3FF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151376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F6FC"/>
                </a:solidFill>
                <a:latin typeface="Aptos"/>
              </a:defRPr>
            </a:pPr>
            <a:r>
              <a:t>/quiz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416052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CD"/>
                </a:solidFill>
                <a:latin typeface="Aptos"/>
              </a:defRPr>
            </a:pPr>
            <a:r>
              <a:t>MCQ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709159"/>
            <a:ext cx="1828800" cy="566928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51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18888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1DCA0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809744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F6FC"/>
                </a:solidFill>
                <a:latin typeface="Aptos"/>
              </a:defRPr>
            </a:pPr>
            <a:r>
              <a:t>/summarize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818888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CD"/>
                </a:solidFill>
                <a:latin typeface="Aptos"/>
              </a:defRPr>
            </a:pPr>
            <a:r>
              <a:t>Text summary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5367527"/>
            <a:ext cx="1828800" cy="566928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966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477255"/>
            <a:ext cx="594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966EFF"/>
                </a:solidFill>
                <a:latin typeface="Aptos"/>
              </a:defRPr>
            </a:pPr>
            <a:r>
              <a:t>POST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546811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2F6FC"/>
                </a:solidFill>
                <a:latin typeface="Aptos"/>
              </a:defRPr>
            </a:pPr>
            <a:r>
              <a:t>/learn/recommendations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77255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CD"/>
                </a:solidFill>
                <a:latin typeface="Aptos"/>
              </a:defRPr>
            </a:pPr>
            <a:r>
              <a:t>Learning path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1417320"/>
            <a:ext cx="2468880" cy="452628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173736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45D3FF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2240280"/>
            <a:ext cx="1920240" cy="205740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00032" y="2350008"/>
            <a:ext cx="1591056" cy="1856231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900">
                <a:solidFill>
                  <a:srgbClr val="D2DCEB"/>
                </a:solidFill>
                <a:latin typeface="Cascadia Mono"/>
              </a:defRPr>
            </a:pPr>
            <a:r>
              <a:t>POST /quiz</a:t>
            </a:r>
          </a:p>
          <a:p>
            <a:pPr>
              <a:spcAft>
                <a:spcPts val="0"/>
              </a:spcAft>
              <a:defRPr sz="9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900">
                <a:solidFill>
                  <a:srgbClr val="D2DCEB"/>
                </a:solidFill>
                <a:latin typeface="Cascadia Mono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900">
                <a:solidFill>
                  <a:srgbClr val="D2DCEB"/>
                </a:solidFill>
                <a:latin typeface="Cascadia Mono"/>
              </a:defRPr>
            </a:pPr>
            <a:r>
              <a:t>  "text": "..." </a:t>
            </a:r>
          </a:p>
          <a:p>
            <a:pPr>
              <a:spcAft>
                <a:spcPts val="0"/>
              </a:spcAft>
              <a:defRPr sz="900">
                <a:solidFill>
                  <a:srgbClr val="D2DCEB"/>
                </a:solidFill>
                <a:latin typeface="Cascadia Mono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9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900">
                <a:solidFill>
                  <a:srgbClr val="D2DCEB"/>
                </a:solidFill>
                <a:latin typeface="Cascadia Mono"/>
              </a:defRPr>
            </a:pPr>
            <a:r>
              <a:t>→ JSON quiz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4617720"/>
            <a:ext cx="1874519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AB8CD"/>
                </a:solidFill>
                <a:latin typeface="Aptos"/>
              </a:defRPr>
            </a:pPr>
            <a:r>
              <a:t>All text inputs have Pydantic length limits.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AI Prompting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Focused prompts make each module predictable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5806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45D3FF"/>
                </a:solidFill>
                <a:latin typeface="Aptos"/>
              </a:defRPr>
            </a:pPr>
            <a:r>
              <a:t>qna.py • prompt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806440" cy="448056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5477255" cy="427939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prompt = f"""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You are EduGenie, a concise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educational tutor.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Answer the student's question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accurately and clearly.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- Start with the direct answer.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- Explain important reasoning.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- Use simple language.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Student question: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{question}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"""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417320"/>
            <a:ext cx="4663440" cy="448056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7373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5D3FF"/>
                </a:solidFill>
                <a:latin typeface="Aptos"/>
              </a:defRPr>
            </a:pPr>
            <a:r>
              <a:t>PROMPT DESIGN PRINCIPLES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8600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F2F6FC"/>
                </a:solidFill>
                <a:latin typeface="Aptos"/>
              </a:defRPr>
            </a:pPr>
            <a:r>
              <a:t>• Clear role: educational tutor</a:t>
            </a:r>
          </a:p>
          <a:p>
            <a:pPr>
              <a:spcAft>
                <a:spcPts val="500"/>
              </a:spcAft>
              <a:defRPr sz="1350">
                <a:solidFill>
                  <a:srgbClr val="F2F6FC"/>
                </a:solidFill>
                <a:latin typeface="Aptos"/>
              </a:defRPr>
            </a:pPr>
            <a:r>
              <a:t>• Explicit output behavior</a:t>
            </a:r>
          </a:p>
          <a:p>
            <a:pPr>
              <a:spcAft>
                <a:spcPts val="500"/>
              </a:spcAft>
              <a:defRPr sz="1350">
                <a:solidFill>
                  <a:srgbClr val="F2F6FC"/>
                </a:solidFill>
                <a:latin typeface="Aptos"/>
              </a:defRPr>
            </a:pPr>
            <a:r>
              <a:t>• Beginner-friendly language</a:t>
            </a:r>
          </a:p>
          <a:p>
            <a:pPr>
              <a:spcAft>
                <a:spcPts val="500"/>
              </a:spcAft>
              <a:defRPr sz="1350">
                <a:solidFill>
                  <a:srgbClr val="F2F6FC"/>
                </a:solidFill>
                <a:latin typeface="Aptos"/>
              </a:defRPr>
            </a:pPr>
            <a:r>
              <a:t>• No fabricated sources/citations</a:t>
            </a:r>
          </a:p>
          <a:p>
            <a:pPr>
              <a:spcAft>
                <a:spcPts val="500"/>
              </a:spcAft>
              <a:defRPr sz="1350">
                <a:solidFill>
                  <a:srgbClr val="F2F6FC"/>
                </a:solidFill>
                <a:latin typeface="Aptos"/>
              </a:defRPr>
            </a:pPr>
            <a:r>
              <a:t>• Module-specific 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Structured AI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Quiz generation uses Pydantic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6492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45D3FF"/>
                </a:solidFill>
                <a:latin typeface="Aptos"/>
              </a:defRPr>
            </a:pPr>
            <a:r>
              <a:t>quiz_module.py • schema +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492240" cy="452628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27048"/>
            <a:ext cx="6163055" cy="432511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class QuizQuestion(BaseModel):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    question: str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    options: list[str] = Field(min_length=4, max_length=4)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    answer: str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    explanation: str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class Quiz(BaseModel):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    questions: list[QuizQuestion] = Field(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        min_length=3, max_length=3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    )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# after parsing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for q in quiz.questions: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    if q.answer not in q.options: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        raise RuntimeError(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            "Invalid quiz answer"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        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417320"/>
            <a:ext cx="3977639" cy="452628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7373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51DCA0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286000"/>
            <a:ext cx="3063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Exactly 3 questions</a:t>
            </a:r>
          </a:p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Exactly 4 options each</a:t>
            </a:r>
          </a:p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Answer must match an option</a:t>
            </a:r>
          </a:p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Explanation returned with each question</a:t>
            </a:r>
          </a:p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Invalid AI structure becomes a server error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Security &amp;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Practical safeguards already present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10698480" cy="621792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53895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45D3FF"/>
                </a:solidFill>
                <a:latin typeface="Aptos"/>
              </a:defRPr>
            </a:pPr>
            <a:r>
              <a:t>Server-side secret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453895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2F6FC"/>
                </a:solidFill>
                <a:latin typeface="Aptos"/>
              </a:defRPr>
            </a:pPr>
            <a:r>
              <a:t>Gemini API key is read from environment configuration.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21408"/>
            <a:ext cx="10698480" cy="621792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49424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51DCA0"/>
                </a:solidFill>
                <a:latin typeface="Aptos"/>
              </a:defRPr>
            </a:pPr>
            <a:r>
              <a:t>Input bounds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49424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2F6FC"/>
                </a:solidFill>
                <a:latin typeface="Aptos"/>
              </a:defRPr>
            </a:pPr>
            <a:r>
              <a:t>Pydantic limits text/question length before processing.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16936"/>
            <a:ext cx="10698480" cy="621792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044952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966EFF"/>
                </a:solidFill>
                <a:latin typeface="Aptos"/>
              </a:defRPr>
            </a:pPr>
            <a:r>
              <a:t>Output escaping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044952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2F6FC"/>
                </a:solidFill>
                <a:latin typeface="Aptos"/>
              </a:defRPr>
            </a:pPr>
            <a:r>
              <a:t>UI escapes model text before rendering HTML.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12463"/>
            <a:ext cx="10698480" cy="621792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40479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B14C"/>
                </a:solidFill>
                <a:latin typeface="Aptos"/>
              </a:defRPr>
            </a:pPr>
            <a:r>
              <a:t>Schema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840479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2F6FC"/>
                </a:solidFill>
                <a:latin typeface="Aptos"/>
              </a:defRPr>
            </a:pPr>
            <a:r>
              <a:t>Quiz JSON is parsed and validated before response.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07992"/>
            <a:ext cx="10698480" cy="621792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636007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F6678"/>
                </a:solidFill>
                <a:latin typeface="Aptos"/>
              </a:defRPr>
            </a:pPr>
            <a:r>
              <a:t>Error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636007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2F6FC"/>
                </a:solidFill>
                <a:latin typeface="Aptos"/>
              </a:defRPr>
            </a:pPr>
            <a:r>
              <a:t>AI failures are converted to HTTP 502 responses.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0698480" cy="621792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5431536"/>
            <a:ext cx="2377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45D3FF"/>
                </a:solidFill>
                <a:latin typeface="Aptos"/>
              </a:defRPr>
            </a:pPr>
            <a:r>
              <a:t>Optional local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5431536"/>
            <a:ext cx="74980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F2F6FC"/>
                </a:solidFill>
                <a:latin typeface="Aptos"/>
              </a:defRPr>
            </a:pPr>
            <a:r>
              <a:t>LaMini-Flan-T5 can be used for explanations when configured.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Single-page learning workspace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6629400" cy="452628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5D3FF"/>
                </a:solidFill>
                <a:latin typeface="Aptos"/>
              </a:defRPr>
            </a:pPr>
            <a:r>
              <a:t>UI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194560"/>
            <a:ext cx="6035040" cy="315468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688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2F6FC"/>
                </a:solidFill>
                <a:latin typeface="Aptos"/>
              </a:defRPr>
            </a:pPr>
            <a:r>
              <a:t>EduGenie  —  AI Learning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63240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AB8CD"/>
                </a:solidFill>
                <a:latin typeface="Aptos"/>
              </a:defRPr>
            </a:pPr>
            <a:r>
              <a:t>Choose a learning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401568"/>
            <a:ext cx="5303520" cy="41148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3493008"/>
            <a:ext cx="4846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F2F6FC"/>
                </a:solidFill>
                <a:latin typeface="Aptos"/>
              </a:defRPr>
            </a:pPr>
            <a:r>
              <a:t>Generate a Quiz   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05072"/>
            <a:ext cx="5303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AB8CD"/>
                </a:solidFill>
                <a:latin typeface="Aptos"/>
              </a:defRPr>
            </a:pPr>
            <a:r>
              <a:t>Your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315968"/>
            <a:ext cx="5303520" cy="50292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4434840"/>
            <a:ext cx="4846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AAB8CD"/>
                </a:solidFill>
                <a:latin typeface="Aptos"/>
              </a:defRPr>
            </a:pPr>
            <a:r>
              <a:t>Paste your learning material…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34440" y="4983480"/>
            <a:ext cx="1097280" cy="310896"/>
          </a:xfrm>
          <a:prstGeom prst="round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992624"/>
            <a:ext cx="109728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101E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417320"/>
            <a:ext cx="3840480" cy="452628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73736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966EFF"/>
                </a:solidFill>
                <a:latin typeface="Aptos"/>
              </a:defRPr>
            </a:pPr>
            <a:r>
              <a:t>UX HIGHLIGHTS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2286000"/>
            <a:ext cx="2971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Task selector with contextual placeholders</a:t>
            </a:r>
          </a:p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Loading and error states</a:t>
            </a:r>
          </a:p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Interactive quiz buttons</a:t>
            </a:r>
          </a:p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Copy result action</a:t>
            </a:r>
          </a:p>
          <a:p>
            <a:pPr>
              <a:spcAft>
                <a:spcPts val="500"/>
              </a:spcAft>
              <a:defRPr sz="1300">
                <a:solidFill>
                  <a:srgbClr val="F2F6FC"/>
                </a:solidFill>
                <a:latin typeface="Aptos"/>
              </a:defRPr>
            </a:pPr>
            <a:r>
              <a:t>• Escaped model output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Testing &amp;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Simple local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03520" cy="44805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51DCA0"/>
                </a:solidFill>
                <a:latin typeface="Aptos"/>
              </a:defRPr>
            </a:pPr>
            <a:r>
              <a:t>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480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F2F6FC"/>
                </a:solidFill>
                <a:latin typeface="Aptos"/>
              </a:defRPr>
            </a:pPr>
            <a:r>
              <a:t>• Health endpoint returns status=ok</a:t>
            </a:r>
          </a:p>
          <a:p>
            <a:pPr>
              <a:spcAft>
                <a:spcPts val="500"/>
              </a:spcAft>
              <a:defRPr sz="1350">
                <a:solidFill>
                  <a:srgbClr val="F2F6FC"/>
                </a:solidFill>
                <a:latin typeface="Aptos"/>
              </a:defRPr>
            </a:pPr>
            <a:r>
              <a:t>• Home page contains EduGenie</a:t>
            </a:r>
          </a:p>
          <a:p>
            <a:pPr>
              <a:spcAft>
                <a:spcPts val="500"/>
              </a:spcAft>
              <a:defRPr sz="1350">
                <a:solidFill>
                  <a:srgbClr val="F2F6FC"/>
                </a:solidFill>
                <a:latin typeface="Aptos"/>
              </a:defRPr>
            </a:pPr>
            <a:r>
              <a:t>• Empty Q&amp;A input returns 422</a:t>
            </a:r>
          </a:p>
          <a:p>
            <a:pPr>
              <a:spcAft>
                <a:spcPts val="500"/>
              </a:spcAft>
              <a:defRPr sz="1350">
                <a:solidFill>
                  <a:srgbClr val="F2F6FC"/>
                </a:solidFill>
                <a:latin typeface="Aptos"/>
              </a:defRPr>
            </a:pPr>
            <a:r>
              <a:t>• Empty quiz input returns 422</a:t>
            </a:r>
          </a:p>
          <a:p>
            <a:pPr>
              <a:spcAft>
                <a:spcPts val="500"/>
              </a:spcAft>
              <a:defRPr sz="1350">
                <a:solidFill>
                  <a:srgbClr val="F2F6FC"/>
                </a:solidFill>
                <a:latin typeface="Aptos"/>
              </a:defRPr>
            </a:pPr>
            <a:r>
              <a:t>• Test suite runs with pytest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212080" cy="448056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7373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45D3FF"/>
                </a:solidFill>
                <a:latin typeface="Aptos"/>
              </a:defRPr>
            </a:pPr>
            <a:r>
              <a:t>LOCAL START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240280"/>
            <a:ext cx="4480560" cy="306324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2552" y="2350008"/>
            <a:ext cx="4151376" cy="28620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python -m venv .venv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.venv\Scripts\activate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pip install -r requirements.txt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copy .env.example .env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# add GEMINI_API_KEY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uvicorn main:app --reload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# browser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http://127.0.0.1:8000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# tests</a:t>
            </a:r>
          </a:p>
          <a:p>
            <a:pPr>
              <a:spcAft>
                <a:spcPts val="0"/>
              </a:spcAft>
              <a:defRPr sz="1019">
                <a:solidFill>
                  <a:srgbClr val="D2DCEB"/>
                </a:solidFill>
                <a:latin typeface="Cascadia Mono"/>
              </a:defRPr>
            </a:pPr>
            <a:r>
              <a:t>pytest -q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Deployment Ready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Docker files are included in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212080" cy="4480560"/>
          </a:xfrm>
          <a:prstGeom prst="roundRect">
            <a:avLst/>
          </a:prstGeom>
          <a:solidFill>
            <a:srgbClr val="141D30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FFB14C"/>
                </a:solidFill>
                <a:latin typeface="Aptos"/>
              </a:defRPr>
            </a:pPr>
            <a:r>
              <a:t>CONTAINERIZATION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4389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Dockerfile packages the FastAPI application.</a:t>
            </a:r>
          </a:p>
          <a:p>
            <a:pPr>
              <a:spcAft>
                <a:spcPts val="5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docker-compose.yml provides a simple service definition.</a:t>
            </a:r>
          </a:p>
          <a:p>
            <a:pPr>
              <a:spcAft>
                <a:spcPts val="5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Environment variables keep configuration outside source code.</a:t>
            </a:r>
          </a:p>
          <a:p>
            <a:pPr>
              <a:spcAft>
                <a:spcPts val="500"/>
              </a:spcAft>
              <a:defRPr sz="1400">
                <a:solidFill>
                  <a:srgbClr val="F2F6FC"/>
                </a:solidFill>
                <a:latin typeface="Aptos"/>
              </a:defRPr>
            </a:pPr>
            <a:r>
              <a:t>• The same app can be run locally or containerized.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43000"/>
            <a:ext cx="5212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45D3FF"/>
                </a:solidFill>
                <a:latin typeface="Aptos"/>
              </a:defRPr>
            </a:pPr>
            <a:r>
              <a:t>Docker workflow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283464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1527048"/>
            <a:ext cx="4882896" cy="26334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# typical deployment flow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docker compose up --build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# app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http://127.0.0.1:8000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# stop</a:t>
            </a:r>
          </a:p>
          <a:p>
            <a:pPr>
              <a:spcAft>
                <a:spcPts val="0"/>
              </a:spcAft>
              <a:defRPr sz="1100">
                <a:solidFill>
                  <a:srgbClr val="D2DCEB"/>
                </a:solidFill>
                <a:latin typeface="Cascadia Mono"/>
              </a:defRPr>
            </a:pPr>
            <a:r>
              <a:t>docker compose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617720"/>
            <a:ext cx="4754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AB8CD"/>
                </a:solidFill>
                <a:latin typeface="Aptos"/>
              </a:defRPr>
            </a:pPr>
            <a:r>
              <a:t>For production, add a managed secret store, HTTPS, rate limiting and monitoring.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EduGenie combines a clean API layer with focused AI learning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698480" cy="4343400"/>
          </a:xfrm>
          <a:prstGeom prst="roundRect">
            <a:avLst/>
          </a:prstGeom>
          <a:solidFill>
            <a:srgbClr val="19243B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875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2F6FC"/>
                </a:solidFill>
                <a:latin typeface="Aptos"/>
              </a:defRPr>
            </a:pPr>
            <a:r>
              <a:t>A compact, modular AI education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743200"/>
            <a:ext cx="8503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5 learning capabilities through one FastAPI service</a:t>
            </a:r>
          </a:p>
          <a:p>
            <a:pPr>
              <a:spcAft>
                <a:spcPts val="5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Gemini integration isolated behind a reusable client</a:t>
            </a:r>
          </a:p>
          <a:p>
            <a:pPr>
              <a:spcAft>
                <a:spcPts val="5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Pydantic validation for safer structured quiz output</a:t>
            </a:r>
          </a:p>
          <a:p>
            <a:pPr>
              <a:spcAft>
                <a:spcPts val="5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Responsive browser UI with interactive quiz experience</a:t>
            </a:r>
          </a:p>
          <a:p>
            <a:pPr>
              <a:spcAft>
                <a:spcPts val="500"/>
              </a:spcAft>
              <a:defRPr sz="1500">
                <a:solidFill>
                  <a:srgbClr val="F2F6FC"/>
                </a:solidFill>
                <a:latin typeface="Aptos"/>
              </a:defRPr>
            </a:pPr>
            <a:r>
              <a:t>• Tests, Docker support and environment-based configuration included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25780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45D3FF"/>
                </a:solidFill>
                <a:latin typeface="Aptos"/>
              </a:defRPr>
            </a:pPr>
            <a:r>
              <a:t>Next: extend with authentication, persistence, analytics, RAG and student progress tracking.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Appendix — Main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Selected production-relevant source from the supplied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45D3FF"/>
                </a:solidFill>
                <a:latin typeface="Aptos"/>
              </a:defRPr>
            </a:pPr>
            <a:r>
              <a:t>CODE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0">
                <a:solidFill>
                  <a:srgbClr val="F2F6FC"/>
                </a:solidFill>
                <a:latin typeface="Aptos"/>
              </a:defRPr>
            </a:pPr>
            <a:r>
              <a:t>The following slides include the main backend, AI client, feature modules, validation and frontend logic.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4114800"/>
            <a:ext cx="996696" cy="310896"/>
          </a:xfrm>
          <a:prstGeom prst="round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123944"/>
            <a:ext cx="996696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101E"/>
                </a:solidFill>
                <a:latin typeface="Aptos"/>
              </a:defRPr>
            </a:pPr>
            <a:r>
              <a:t>main.py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114800"/>
            <a:ext cx="1901952" cy="310896"/>
          </a:xfrm>
          <a:prstGeom prst="roundRect">
            <a:avLst/>
          </a:prstGeom>
          <a:solidFill>
            <a:srgbClr val="96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4123944"/>
            <a:ext cx="190195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101E"/>
                </a:solidFill>
                <a:latin typeface="Aptos"/>
              </a:defRPr>
            </a:pPr>
            <a:r>
              <a:t>gemini_client.py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4114800"/>
            <a:ext cx="1700784" cy="310896"/>
          </a:xfrm>
          <a:prstGeom prst="roundRect">
            <a:avLst/>
          </a:prstGeom>
          <a:solidFill>
            <a:srgbClr val="51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4123944"/>
            <a:ext cx="1700784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101E"/>
                </a:solidFill>
                <a:latin typeface="Aptos"/>
              </a:defRPr>
            </a:pPr>
            <a:r>
              <a:t>quiz_module.py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4114800"/>
            <a:ext cx="1298448" cy="310896"/>
          </a:xfrm>
          <a:prstGeom prst="roundRect">
            <a:avLst/>
          </a:prstGeom>
          <a:solidFill>
            <a:srgbClr val="FF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4123944"/>
            <a:ext cx="1298448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0A101E"/>
                </a:solidFill>
                <a:latin typeface="Aptos"/>
              </a:defRPr>
            </a:pPr>
            <a:r>
              <a:t>index.html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Appendix A — FastAPI Entry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main.py • application setup + request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489204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63040"/>
            <a:ext cx="10552176" cy="46908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from pathlib import Path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from fastapi import FastAPI, Request, HTTPException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from fastapi.responses import HTMLResponse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from fastapi.staticfiles import StaticFiles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from fastapi.templating import Jinja2Templates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from pydantic import BaseModel, Field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from qna import answer_question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from explanation_module import explain_concept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from quiz_module import generate_quiz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from summary_module import summarize_text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from learning_path import get_learning_recommendations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BASE_DIR = Path(__file__).resolve().parent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app = FastAPI(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title="EduGenie",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description="Google Gemini powered learning assistant",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version="1.0.0",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)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app.mount("/static", StaticFiles(directory=BASE_DIR / "static"), name="static")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templates = Jinja2Templates(directory=str(BASE_DIR / "templates"))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class TextRequest(BaseModel):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text: str = Field(..., min_length=1, max_length=30000)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class QuestionRequest(BaseModel):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question: str = Field(..., min_length=1, max_length=10000)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@app.get("/", response_class=HTMLResponse)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async def home(request: Request):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return templates.TemplateResponse("index.html", {"request": request})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@app.get("/health")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async def health():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return {"status": "ok", "service": "EduGenie"}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@app.post("/qa")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async def qa(payload: QuestionRequest):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try: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    return {"result": await answer_question(payload.question)}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except Exception as exc: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    raise HTTPException(status_code=502, detail=str(exc)) from exc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@app.post("/explain")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async def explain(payload: TextRequest):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try: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    return {"result": await explain_concept(payload.text)}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except Exception as exc: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    raise HTTPException(status_code=502, detail=str(exc)) from exc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@app.post("/quiz")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async def quiz(payload: TextRequest):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try: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    return {"result": await generate_quiz(payload.text)}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except Exception as exc: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    raise HTTPException(status_code=502, detail=str(exc)) from exc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@app.post("/summarize")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async def summarize(payload: TextRequest):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try: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    return {"result": await summarize_text(payload.text)}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except Exception as exc: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    raise HTTPException(status_code=502, detail=str(exc)) from exc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@app.post("/learn/recommendations")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async def recommendations(payload: TextRequest):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try: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    return {"result": await get_learning_recommendations(payload.text)}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except Exception as exc:</a:t>
            </a:r>
          </a:p>
          <a:p>
            <a:pPr>
              <a:spcAft>
                <a:spcPts val="0"/>
              </a:spcAft>
              <a:defRPr sz="880">
                <a:solidFill>
                  <a:srgbClr val="D2DCEB"/>
                </a:solidFill>
                <a:latin typeface="Cascadia Mono"/>
              </a:defRPr>
            </a:pPr>
            <a:r>
              <a:t>        raise HTTPException(status_code=502, detail=str(exc)) from exc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Appendix B — Gemini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gemini_client.py • reusable async AI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489204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63040"/>
            <a:ext cx="10552176" cy="46908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from config import settings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_client = None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def get_client():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global _client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if _client is None: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if not settings.gemini_api_key: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    raise RuntimeError(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        "GEMINI_API_KEY is not configured. Create a Gemini API key and add it to .env."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    )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try: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    from google import genai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except ImportError as exc: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    raise RuntimeError(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        "The Google Gemini SDK is not installed. Run: pip install -r requirements.txt"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    ) from exc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_client = genai.Client(api_key=settings.gemini_api_key)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return _client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async def generate_text(prompt: str, *, temperature: float | None = None,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                max_output_tokens: int | None = None) -&gt; str: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from google.genai import types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client = get_client()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response = await client.aio.models.generate_content(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model=settings.gemini_model,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contents=prompt,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config=types.GenerateContentConfig(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    temperature=settings.temperature if temperature is None else temperature,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    max_output_tokens=(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        settings.max_output_tokens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        if max_output_tokens is None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        else max_output_tokens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    ),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),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)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text = getattr(response, "text", None)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if not text: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    raise RuntimeError("Gemini returned an empty response.")</a:t>
            </a:r>
          </a:p>
          <a:p>
            <a:pPr>
              <a:spcAft>
                <a:spcPts val="0"/>
              </a:spcAft>
              <a:defRPr sz="950">
                <a:solidFill>
                  <a:srgbClr val="D2DCEB"/>
                </a:solidFill>
                <a:latin typeface="Cascadia Mono"/>
              </a:defRPr>
            </a:pPr>
            <a:r>
              <a:t>    return text.strip()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Appendix C — Quiz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quiz_module.py • structured output +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489204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63040"/>
            <a:ext cx="10552176" cy="46908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import json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import re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from pydantic import BaseModel, Field, ValidationError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from gemini_client import generate_text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class QuizQuestion(BaseModel):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question: str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options: list[str] = Field(min_length=4, max_length=4)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answer: str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explanation: str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class Quiz(BaseModel):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questions: list[QuizQuestion] = Field(min_length=3, max_length=3)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def clean_json_block(text: str) -&gt; str: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text = text.strip()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text = re.sub(r"^```(?:json)?\s*", "", text, flags=re.IGNORECASE)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text = re.sub(r"\s*```$", "", text)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start = text.find("{")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end = text.rfind("}")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if start &gt;= 0 and end &gt; start: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    return text[start:end + 1]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raise ValueError("No JSON object found in model response.")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async def generate_quiz(passage: str) -&gt; dict: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prompt = f"""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Generate exactly 3 multiple-choice questions from the educational passage below.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Rules: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- Exactly 3 questions.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- Exactly 4 options per question.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- "answer" must exactly match one option.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- Include a concise explanation for the correct answer.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- Questions must be answerable from the passage.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- Return JSON only. No Markdown and no extra commentary.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JSON schema: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{{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"questions": [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{{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  "question": "string",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  "options": ["A", "B", "C", "D"],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  "answer": "one of the four options",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  "explanation": "string"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}}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]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}}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PASSAGE: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{passage}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"""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raw = await generate_text(prompt, temperature=0.2)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try: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    data = json.loads(clean_json_block(raw))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    quiz = Quiz.model_validate(data)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except (json.JSONDecodeError, ValueError, ValidationError) as exc: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    raise RuntimeError(f"Could not parse the quiz generated by Gemini: {exc}") from exc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for q in quiz.questions: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    if q.answer not in q.options: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        raise RuntimeError("Gemini produced a quiz answer that is not one of the options.")</a:t>
            </a: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90">
                <a:solidFill>
                  <a:srgbClr val="D2DCEB"/>
                </a:solidFill>
                <a:latin typeface="Cascadia Mono"/>
              </a:defRPr>
            </a:pPr>
            <a:r>
              <a:t>    return quiz.model_dump()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Appendix D — Q&amp;A +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qna.py + summary_module.py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489204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63040"/>
            <a:ext cx="10552176" cy="46908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from gemini_client import generate_text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async def answer_question(question: str) -&gt; str: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    prompt = f"""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You are EduGenie, a concise educational tutor.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Answer the student's question accurately and clearly.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- Start with the direct answer.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- Explain important reasoning or context.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- Use simple language suitable for a learner.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- If the question is ambiguous, state the assumption you are making.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- Do not invent sources, facts, quotations, or citations.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Student question: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{question}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"""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    return await generate_text(prompt)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# ---------------- SUMMARY ----------------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from gemini_client import generate_text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async def summarize_text(text: str) -&gt; str: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    prompt = f"""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You are EduGenie, an educational summarizer.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Summarize the passage below for quick revision.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Return: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1. A short overview (2-3 sentences).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2. Key points as bullets.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3. Important terms or concepts, if present.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Preserve the original meaning and do not introduce facts not supported by the passage.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PASSAGE: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{text}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"""</a:t>
            </a:r>
          </a:p>
          <a:p>
            <a:pPr>
              <a:spcAft>
                <a:spcPts val="0"/>
              </a:spcAft>
              <a:defRPr sz="860">
                <a:solidFill>
                  <a:srgbClr val="D2DCEB"/>
                </a:solidFill>
                <a:latin typeface="Cascadia Mono"/>
              </a:defRPr>
            </a:pPr>
            <a:r>
              <a:t>    return await generate_text(prompt)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Appendix E — Explanation + Learning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explanation_module.py + learning_path.py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489204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63040"/>
            <a:ext cx="10552176" cy="46908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from gemini_client import generate_text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from config import settings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_local_pipeline = None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def _load_local_model():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global _local_pipeline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if _local_pipeline is None: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try: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    from transformers import pipeline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except ImportError as exc: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    raise RuntimeError(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        "Local explanation mode requires the optional transformers/torch dependencies."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    ) from exc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_local_pipeline = pipeline(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    "text2text-generation",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    model=settings.local_explanation_model,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)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return _local_pipeline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async def explain_concept(topic: str) -&gt; str: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if settings.use_local_explanation: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pipe = _load_local_model()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prompt = (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    "Explain the following educational concept in simple language for a beginner. "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    "Use a short definition, a simple example, and a brief takeaway.\n\n"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    f"Concept: {topic}"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)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result = pipe(prompt, max_new_tokens=220, do_sample=False)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    return result[0]["generated_text"].strip()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prompt = f"""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You are EduGenie, an expert educational explainer.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Explain this concept to a beginner: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{topic}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Use this structure: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- Simple definition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- How it works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- Easy example or analogy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- Key takeaway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Avoid unnecessary jargon. If technical terminology is essential, define it.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"""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return await generate_text(prompt)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# ---------------- LEARNING PATH ----------------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from gemini_client import generate_text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async def get_learning_recommendations(topic: str) -&gt; str: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prompt = f"""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You are EduGenie, a personalized learning-path designer.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Create a structured learning path for: {topic}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Assume a beginner unless the learner explicitly states another level.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Organize the plan from beginner to advanced and include: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- Stage and difficulty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- Concepts to learn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- Suggested timeline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- Practice activities/projects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- Resource types to seek (videos, articles, books, documentation)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- A simple milestone/checkpoint for each stage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Keep it practical and adaptable. Do not fabricate specific URLs or claim a resource exists unless you know it.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"""</a:t>
            </a:r>
          </a:p>
          <a:p>
            <a:pPr>
              <a:spcAft>
                <a:spcPts val="0"/>
              </a:spcAft>
              <a:defRPr sz="840">
                <a:solidFill>
                  <a:srgbClr val="D2DCEB"/>
                </a:solidFill>
                <a:latin typeface="Cascadia Mono"/>
              </a:defRPr>
            </a:pPr>
            <a:r>
              <a:t>    return await generate_text(prompt)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Appendix F —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config.py • environment-driven settings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489204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63040"/>
            <a:ext cx="10552176" cy="46908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import os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from dataclasses import dataclass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from dotenv import load_dotenv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load_dotenv()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@dataclass(frozen=True)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class Settings: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    gemini_api_key: str = os.getenv("GEMINI_API_KEY", "")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    gemini_model: str = os.getenv("GEMINI_MODEL", "gemini-3.8-flash")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    local_explanation_model: str = os.getenv(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        "LOCAL_EXPLANATION_MODEL",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        "MBZUAI/LaMini-Flan-T5-783M",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    )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    use_local_explanation: bool = os.getenv("USE_LOCAL_EXPLANATION", "false").lower() == "true"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    max_output_tokens: int = int(os.getenv("MAX_OUTPUT_TOKENS", "1200"))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    temperature: float = float(os.getenv("TEMPERATURE", "0.4"))</a:t>
            </a: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1000">
                <a:solidFill>
                  <a:srgbClr val="D2DCEB"/>
                </a:solidFill>
                <a:latin typeface="Cascadia Mono"/>
              </a:defRPr>
            </a:pPr>
            <a:r>
              <a:t>settings = Settings()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Appendix G —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templates/index.html • UI + fetch workflow + quiz rendering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489204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63040"/>
            <a:ext cx="10552176" cy="46908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&lt;!DOCTYPE html&gt;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&lt;html lang="en"&gt;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&lt;head&gt;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&lt;meta charset="UTF-8"&gt;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&lt;meta name="viewport" content="width=device-width, initial-scale=1.0"&gt;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&lt;title&gt;EduGenie — AI Learning Assistant&lt;/title&gt;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&lt;link rel="stylesheet" href="{{ url_for('static', path='style.css') }}"&gt;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&lt;/head&gt;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&lt;body&gt;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&lt;main class="container"&gt;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&lt;header class="hero"&gt;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&lt;div&gt;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  &lt;span class="badge"&gt;AI Learning Assistant&lt;/span&gt;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  &lt;h1&gt;EduGenie&lt;/h1&gt;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  &lt;p&gt;Ask, understand, practice, summarize, and build a learning path.&lt;/p&gt;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&lt;/div&gt;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&lt;/header&gt;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&lt;section class="card"&gt;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&lt;label for="task"&gt;Choose a learning task&lt;/label&gt;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&lt;select id="task"&gt;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  &lt;option value="qa"&gt;Ask a Question&lt;/option&gt;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  &lt;option value="explain"&gt;Explain a Concept&lt;/option&gt;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  &lt;option value="quiz"&gt;Generate a Quiz&lt;/option&gt;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  &lt;option value="summarize"&gt;Summarize Text&lt;/option&gt;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  &lt;option value="learn"&gt;Recommend Learning Path&lt;/option&gt;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&lt;/select&gt;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&lt;label for="inputText"&gt;Your input&lt;/label&gt;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&lt;textarea id="inputText" rows="10"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  placeholder="For example: Explain the Pythagoras theorem with a simple example."&gt;&lt;/textarea&gt;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&lt;button id="submitBtn"&gt;Generate&lt;/button&gt;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&lt;p id="status" class="status" aria-live="polite"&gt;&lt;/p&gt;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&lt;/section&gt;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&lt;section class="card result-card"&gt;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&lt;div class="result-heading"&gt;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  &lt;h2&gt;Result&lt;/h2&gt;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  &lt;button id="copyBtn" class="secondary" disabled&gt;Copy&lt;/button&gt;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&lt;/div&gt;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&lt;div id="result" class="result empty"&gt;Your result will appear here.&lt;/div&gt;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&lt;/section&gt;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&lt;footer&gt;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&lt;span&gt;EduGenie&lt;/span&gt;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&lt;a href="/docs" target="_blank" rel="noopener"&gt;API docs&lt;/a&gt;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&lt;a href="/health" target="_blank" rel="noopener"&gt;Health&lt;/a&gt;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&lt;/footer&gt;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&lt;/main&gt;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&lt;script&gt;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const task = document.getElementById("task");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const input = document.getElementById("inputText");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const submit = document.getElementById("submitBtn");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const result = document.getElementById("result");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const statusEl = document.getElementById("status");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const copyBtn = document.getElementById("copyBtn");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const placeholders =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qa: "Ask a question, e.g. What is photosynthesis?",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explain: "Enter a concept, e.g. Pythagoras theorem",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quiz: "Paste a passage or topic for a 3-question MCQ quiz.",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summarize: "Paste the educational passage you want summarized.",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learn: "Enter a topic, e.g. SQL from beginner to advanced."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};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task.addEventListener("change", () =&gt;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input.placeholder = placeholders[task.value];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});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function escapeHtml(value)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return value.replace(/[&amp;&lt;&gt;"']/g, c =&gt; ({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"&amp;":"&amp;amp;", "&lt;":"&amp;lt;", "&gt;":"&amp;gt;", '"':"&amp;quot;", "'":"&amp;#039;"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}[c]));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function renderMarkdownish(text)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return escapeHtml(text)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.replace(/\*\*(.*?)\*\*/g, "&lt;strong&gt;$1&lt;/strong&gt;")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.replace(/^### (.*)$/gm, "&lt;h3&gt;$1&lt;/h3&gt;")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.replace(/^## (.*)$/gm, "&lt;h2&gt;$1&lt;/h2&gt;")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.replace(/^- (.*)$/gm, "&lt;li&gt;$1&lt;/li&gt;")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.replace(/\n/g, "&lt;br&gt;");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function renderQuiz(quiz)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let html = "&lt;div class='quiz'&gt;";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quiz.questions.forEach((q, index) =&gt;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html += `&lt;div class="quiz-question"&gt;&lt;h3&gt;${index + 1}. ${escapeHtml(q.question)}&lt;/h3&gt;`;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q.options.forEach(option =&gt;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html += `&lt;button class="option" data-answer="${escapeHtml(q.answer)}" data-option="${escapeHtml(option)}"&gt;${escapeHtml(option)}&lt;/button&gt;`;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});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html += `&lt;p class="explanation" hidden&gt;${escapeHtml(q.explanation)}&lt;/p&gt;&lt;/div&gt;`;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});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return html + "&lt;/div&gt;";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function bindQuiz()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document.querySelectorAll(".option").forEach(button =&gt;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button.addEventListener("click", () =&gt;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const question = button.closest(".quiz-question");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question.querySelectorAll(".option").forEach(b =&gt; b.disabled = true);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const correct = button.dataset.option === button.dataset.answer;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button.classList.add(correct ? "correct" : "wrong");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if (!correct)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  question.querySelectorAll(".option").forEach(b =&gt;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    if (b.dataset.option === b.dataset.answer) b.classList.add("correct");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  });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}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question.querySelector(".explanation").hidden = false;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});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});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task.dispatchEvent(new Event("change"));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submit.addEventListener("click", async () =&gt;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const text = input.value.trim();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if (!text)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statusEl.textContent = "Please enter some text first.";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return;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const endpoint =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qa: "/qa",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explain: "/explain",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quiz: "/quiz",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summarize: "/summarize",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learn: "/learn/recommendations"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}[task.value];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submit.disabled = true;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copyBtn.disabled = true;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statusEl.textContent = "Thinking…";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result.className = "result loading";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result.textContent = "EduGenie is generating your answer…";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try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const body = task.value === "qa" ? { question: text } : { text };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const response = await fetch(endpoint,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method: "POST",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headers: {"Content-Type": "application/json"},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body: JSON.stringify(body)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});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const data = await response.json();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if (!response.ok) throw new Error(data.detail || "Request failed.");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result.className = "result";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if (task.value === "quiz")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result.innerHTML = renderQuiz(data.result);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bindQuiz();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} else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  result.innerHTML = renderMarkdownish(data.result);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}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copyBtn.disabled = false;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statusEl.textContent = "Done.";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} catch (error)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result.className = "result error";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result.textContent = error.message;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statusEl.textContent = "Request failed.";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} finally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  submit.disabled = false;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});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copyBtn.addEventListener("click", async () =&gt; {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await navigator.clipboard.writeText(result.innerText);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  statusEl.textContent = "Copied.";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});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&lt;/script&gt;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&lt;/body&gt;</a:t>
            </a:r>
          </a:p>
          <a:p>
            <a:pPr>
              <a:spcAft>
                <a:spcPts val="0"/>
              </a:spcAft>
              <a:defRPr sz="750">
                <a:solidFill>
                  <a:srgbClr val="D2DCEB"/>
                </a:solidFill>
                <a:latin typeface="Cascadia Mono"/>
              </a:defRPr>
            </a:pPr>
            <a:r>
              <a:t>&lt;/html&gt;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2F6FC"/>
                </a:solidFill>
                <a:latin typeface="Aptos Display"/>
              </a:defRPr>
            </a:pPr>
            <a:r>
              <a:t>Appendix H — Dependencies, Tests &amp; Styling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3268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AAB8CD"/>
                </a:solidFill>
                <a:latin typeface="Aptos"/>
              </a:defRPr>
            </a:pPr>
            <a:r>
              <a:t>requirements.txt + test_app.py + CSS excerpt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53312"/>
            <a:ext cx="10881360" cy="4892040"/>
          </a:xfrm>
          <a:prstGeom prst="roundRect">
            <a:avLst/>
          </a:prstGeom>
          <a:solidFill>
            <a:srgbClr val="070C16"/>
          </a:solidFill>
          <a:ln w="12700">
            <a:solidFill>
              <a:srgbClr val="3343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63040"/>
            <a:ext cx="10552176" cy="4690872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# requirements.txt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fastapi&gt;=0.115,&lt;1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uvicorn[standard]&gt;=0.34,&lt;1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jinja2&gt;=3.1,&lt;4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python-dotenv&gt;=1.0,&lt;2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google-genai&gt;=1.30,&lt;2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pydantic&gt;=2.10,&lt;3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pytest&gt;=8.3,&lt;9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httpx&gt;=0.28,&lt;1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# Optional local LaMini-Flan-T5 explanation mode: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# Uncomment these two lines and set USE_LOCAL_EXPLANATION=true in .env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# torch&gt;=2.6,&lt;3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# transformers&gt;=4.50,&lt;5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# tests/test_app.py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from fastapi.testclient import TestClient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import main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client = TestClient(main.app)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def test_health():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  response = client.get("/health")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  assert response.status_code == 200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  assert response.json()["status"] == "ok"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def test_home():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  response = client.get("/")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  assert response.status_code == 200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  assert "EduGenie" in response.text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def test_qa_validation():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  response = client.post("/qa", json={"question": ""})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  assert response.status_code == 422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def test_quiz_validation():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  response = client.post("/quiz", json={"text": ""})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  assert response.status_code == 422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# static/style.css (first section)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:root {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font-family: Inter, ui-sans-serif, system-ui, -apple-system, BlinkMacSystemFont, "Segoe UI", sans-serif;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color: #172033;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background: #f4f7fb;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* { box-sizing: border-box;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body { margin: 0;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.container { width: min(960px, calc(100% - 32px)); margin: 0 auto; padding: 48px 0;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.hero { margin-bottom: 24px;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.badge { display: inline-block; padding: 6px 10px; border-radius: 999px; background: #e8efff; color: #3159bd; font-size: 12px; font-weight: 700;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h1 { font-size: clamp(38px, 7vw, 64px); margin: 10px 0 4px; letter-spacing: -2px;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.hero p { margin: 0; color: #61708b; font-size: 18px;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.card { background: white; border: 1px solid #e3e8f0; border-radius: 18px; padding: 24px; margin-top: 18px; box-shadow: 0 10px 30px rgba(25, 40, 70, .06);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label { display: block; font-weight: 700; margin: 12px 0 8px;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select, textarea { width: 100%; border: 1px solid #cfd7e5; border-radius: 12px; padding: 12px; font: inherit; background: #fff;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textarea { resize: vertical; min-height: 180px;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button { border: 0; border-radius: 11px; padding: 12px 18px; font: inherit; font-weight: 700; cursor: pointer; background: #3159bd; color: white; margin-top: 14px;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button:disabled { opacity: .55; cursor: not-allowed;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.secondary { background: #eef2f8; color: #24324a; padding: 8px 12px; margin: 0;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.status { min-height: 22px; color: #61708b; margin-bottom: 0;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.result-heading { display: flex; justify-content: space-between; align-items: center;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.result-heading h2 { margin: 0;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.result { line-height: 1.7; color: #29354a;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.result.empty, .loading { color: #73809a;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.error { color: #a32626; background: #fff3f3; padding: 12px; border-radius: 10px;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.result li { margin: 6px 0;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.quiz-question { border-top: 1px solid #e6ebf2; padding: 18px 0;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.quiz-question:first-child { border-top: 0;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.quiz-question h3 { margin-top: 0;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.option { display: block; width: 100%; text-align: left; background: #f1f4f9; color: #27344c; margin: 8px 0;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.option.correct { background: #dff5e5; color: #166534;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.option.wrong { background: #ffe3e3; color: #991b1b;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.explanation { background: #f7f9fc; padding: 10px 12px; border-radius: 8px;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footer { display: flex; gap: 18px; padding: 24px 4px; color: #6a7890; font-size: 14px;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footer a { color: inherit;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@media (max-width: 600px) {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.container { padding: 24px 0;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  .card { padding: 18px; }</a:t>
            </a:r>
          </a:p>
          <a:p>
            <a:pPr>
              <a:spcAft>
                <a:spcPts val="0"/>
              </a:spcAft>
              <a:defRPr sz="700">
                <a:solidFill>
                  <a:srgbClr val="D2DCEB"/>
                </a:solidFill>
                <a:latin typeface="Cascadia Mono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AAB8CD"/>
                </a:solidFill>
                <a:latin typeface="Aptos"/>
              </a:defRPr>
            </a:pPr>
            <a:r>
              <a:t>EduGenie  •  AI Learning Assistant                                    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5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2F6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889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45D3FF"/>
                </a:solidFill>
                <a:latin typeface="Aptos"/>
              </a:defRPr>
            </a:pPr>
            <a:r>
              <a:t>EduGenie — AI-Powered Learning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703320"/>
            <a:ext cx="9966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AAB8CD"/>
                </a:solidFill>
                <a:latin typeface="Aptos"/>
              </a:defRPr>
            </a:pPr>
            <a:r>
              <a:t>Presentation + Main Coding 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AAB8CD"/>
                </a:solidFill>
                <a:latin typeface="Aptos"/>
              </a:defRPr>
            </a:pPr>
            <a:r>
              <a:t>Source project: EduGenie-complete(1).zip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